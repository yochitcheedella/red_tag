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377440" cy="34747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INDUSTRIAL AI &amp; RFID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Real-Time Red Tag Area Surveillance</a:t>
            </a:r>
            <a:br/>
            <a:r>
              <a:t>&amp; RFID Authorization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8BDF8"/>
                </a:solidFill>
                <a:latin typeface="Arial"/>
              </a:defRPr>
            </a:pPr>
            <a:r>
              <a:t>Autonomous 5S Workplace Monitoring • Zero-Human Privacy Standard • Dynamic ROI Calibration</a:t>
            </a:r>
            <a:br/>
            <a:r>
              <a:t>Edge Vision AI &amp; Spatio-Temporal Correlation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37760"/>
            <a:ext cx="10725912" cy="1188720"/>
          </a:xfrm>
          <a:prstGeom prst="roundRect">
            <a:avLst/>
          </a:prstGeom>
          <a:solidFill>
            <a:srgbClr val="131B2E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CURRENT WORKING STATE: FULL HARDWARE-IN-THE-LOOP OPERATIONAL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Verified Stack: React 19 Frontend (Vite) | Node.js Express &amp; Socket.IO | Java 25 LTS Parallel Core | SQLite WAL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Sensors: Logitech C920 HD Pro Webcam | Multi-Modal RFID (USB HID Keystroke, Serial COM, Industrial TCP:9090)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BACKGROUND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Problem Statement: Industrial 5S Management &amp; Surveillance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73352"/>
            <a:ext cx="30175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4444"/>
                </a:solidFill>
                <a:latin typeface="Arial"/>
              </a:defRPr>
            </a:pPr>
            <a:r>
              <a:t>1. The 5S Red Tag Hazard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Red Tag Areas hold defective, non-conforming, or awaiting-inspection materials.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Unauthorized item placement leads to inventory confusion, safety violations, and scrapped production.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Manual paper logs and physical signs fail to prevent untracked, unannounced drop-offs.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Material traceability is severed the moment an undocumented part is dumped.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73352"/>
            <a:ext cx="30175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2. The Flaw of Traditional CCTV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Human security guards experience visual fatigue and cognitive decline within 20 minutes of CCTV monitoring.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Standard cameras record passive, dumb video 24/7 with zero semantic context.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Cameras cannot distinguish between an authorized maintenance drop and an unauthorized breach.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Investigation is 100% retrospective—occurring hours or days after the incident.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73352"/>
            <a:ext cx="30175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3. The Privacy &amp; Legal Impasse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Industrial plants and manufacturing floors are strictly regulated workplace environments.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Deploying conventional facial recognition causes severe worker privacy friction and union strikes.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GDPR Article 9 and workplace regulations strictly prohibit continuous employee biometric tracking.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Need: Autonomous security WITHOUT tracking or recognizing human identities.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DESIGN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Project Objectives: Autonomous Enforcement Without Biometrics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73352"/>
            <a:ext cx="30175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Autonomous 5S Enforcement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Real-time detection of object placement inside designated Red Tag zones.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Instant correlation of physical item drop with authorized RFID badge scan.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Zero-operator requirement: 24/7 automated monitoring without human fatigue.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Automated acoustic and visual alerts upon security violations.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73352"/>
            <a:ext cx="30175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Zero-Human Privacy Standard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Strictly NO face detection, NO biometric capture, and NO identity tracking.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Full video frames discarded at the edge; never saved to disk.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Evidence capture crops ONLY physical objects with 20px padding.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100% compliance with GDPR, labor laws, and industrial union agreements.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73352"/>
            <a:ext cx="30175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855F7"/>
                </a:solidFill>
                <a:latin typeface="Arial"/>
              </a:defRPr>
            </a:pPr>
            <a:r>
              <a:t>Operational Robustness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Dynamic, interactive ROI calibration adjusting to any physical floor-tape geometry.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Multi-frame stationary persistence filtering to eliminate transient shadows and walking workers.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Instant 2.5s removal detection to auto-clear alarms and maintain live inventory accuracy.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Sub-100ms end-to-end edge-to-dashboard latency.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SYSTEM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Proposed Solution: Edge Vision AI + RFID Multi-Modal 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73352"/>
            <a:ext cx="475488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💡 Multi-Modal Sensor Fusion Concept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Bridging the physical world (camera vision) with enterprise authorization (RFID badges).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Camera Edge Vision acts as the 'What &amp; Where': detects physical objects entering the floor polygon, checks stationary dwell time, and crops object evidence.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Hardware RFID Reader acts as the 'Who &amp; Permission': captures badge UIDs, matches employee records, and opens a temporary sliding authorization window.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Spatio-Temporal Correlation Engine acts as the 'Brain': correlates the physical drop event with the digital badge authorization token within a 60-second window.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Automated Escalation: Triggers high-priority visual HUD warnings, dual-tone audio sirens, and immutable audit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73352"/>
            <a:ext cx="48463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🎯 Key Engineering Breakthroughs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Privacy-First Evidence Pipeline: Faces and human bodies are excluded at the edge canvas layer—only isolated item crops enter the audit trail.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Millimeter Floor-Tape Calibration: Eliminates rigid rectangular ROIs. The user calibrates 4 corner pins or arbitrary polygons directly over live camera video.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Multi-Frame Anti-Jitter Filter: Requires 5.0 seconds of uninterrupted stationary presence to prevent false alarms from walking personnel or swinging tools.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Instant Absence Pruning: 2.5-second absence detection resets alarms and marks inventory as REMOVED the instant an object is picked up.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Triple-Tier Sync: Coordinates and events are synchronized across React 19 Frontend, Node.js API, and Java Parallel Engine.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System Architecture: Multi-Tier Distributed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73352"/>
            <a:ext cx="30175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Tier 1: Edge &amp; Sensor Layer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Logitech C920 Pro HD Webcam: 1080p real-time video stream at 60 FPS.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Multi-Modal RFID Readers: USB HID Keyboard Emulation, Serial COM (CH340/FTDI), and Industrial TCP:9090.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Edge Vision Client: Client-side canvas inference with hybrid MobileNet-v2 &amp; floor contrast BFS segmentation.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Local Frame Buffer: In-memory volatile processing; zero disk writes.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73352"/>
            <a:ext cx="30175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Tier 2: Real-Time API &amp; Storage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Node.js Express Server: REST endpoints for device management, logs, and badge registry on Port 3001.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Socket.IO WebSocket Gateway: Bi-directional, sub-5ms event broadcasting.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SQLite Database with WAL Mode: Microsecond writes for audit records and persistent settings.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Evidence Storage Manager: Securely archives cropped object JPEG thumbnails.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73352"/>
            <a:ext cx="30175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855F7"/>
                </a:solidFill>
                <a:latin typeface="Arial"/>
              </a:defRPr>
            </a:pPr>
            <a:r>
              <a:t>Tier 3: Java 25 LTS Engine &amp; UI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Java 25 LTS Parallel Engine: High-throughput correlation core running on Port 8080 with ForkJoinPool.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Industrial TCP Server: Port 9090 ingesting raw tag streams from Impinj &amp; Zebra readers.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React 19 Enterprise SOC Dashboard: High-contrast Dark Slate UI with Web Audio API sirens.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Vite HMR: 612ms production bundle build.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OPERATIONAL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Complete Workflow: From Badge Swipe to Audit Logging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5912" cy="84124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Step 1: RFID Badge Tap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Worker scans RFID badge. Reader captures UID, verifies permissions in database, and activates a 60-second sliding authorization window.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725912" cy="84124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A855F7"/>
                </a:solidFill>
                <a:latin typeface="Arial"/>
              </a:defRPr>
            </a:pPr>
            <a:r>
              <a:t>Step 2: Object Placement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Worker deposits material into the physically taped Red Tag area. Camera captures spatial entry at 60 FPS.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29000"/>
            <a:ext cx="10725912" cy="84124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Step 3: Ray-Casting &amp; Debounce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Point-in-Polygon checks if base coordinate (x_center, y_bottom) is inside ROI. 5.0s timer validates stationary persistence.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725912" cy="84124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EF4444"/>
                </a:solidFill>
                <a:latin typeface="Arial"/>
              </a:defRPr>
            </a:pPr>
            <a:r>
              <a:t>Step 4: Correlation &amp; Decision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If sliding window active: Marked AUTHORIZED (Green beacon). If window expired/absent: Marked UNAUTHORIZED (Red siren + crop).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49240"/>
            <a:ext cx="10725912" cy="84124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Step 5: Logging &amp; Removal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Logged to SQLite WAL and broadcast to UI. When item is lifted, 2.5s absence prune clears HUD and auto-silences siren.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CORE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RFID–Camera Spatio-Temporal Correlation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73352"/>
            <a:ext cx="30175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1. Sliding Temporal Window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When a badge is tapped, system generates an authorization token: AuthToken(UID, Employee, ExpiryTime).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Sliding Window Duration: Configurable (Default: 60.0s).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Active countdown displayed on dashboard HUD.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Any stationary item detected inside the ROI during this window is bound to the employee.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73352"/>
            <a:ext cx="30175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2. Correlation State Machine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State 0: IDLE (Zone empty, no active badge).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State 1: PRIMED (Badge scanned, countdown ticking).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State 2: EVALUATING (Object placed, debouncing 5.0s).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State 3A: BOUND / AUTHORIZED (Item matched to badge, logged to DB).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State 3B: VIOLATION (No badge or expired window; trigger alarm).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State 4: REMOVED (Object absent &gt;2.5s; reset state).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73352"/>
            <a:ext cx="30175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855F7"/>
                </a:solidFill>
                <a:latin typeface="Arial"/>
              </a:defRPr>
            </a:pPr>
            <a:r>
              <a:t>3. Edge-Case Handling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Expired Badge (Case E): Placements after t_expire trigger immediate unauthorized breach.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Unregistered UID: Rejects unknown cards and logs security warning.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Multiple Drop Protection: Token bound to first confirmed drop; subsequent unannounced drops require re-tap.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Concurrent Multi-Badge: Resolves to most recently active authorized employee.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New-Object &amp; Stationary Detection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73352"/>
            <a:ext cx="30175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1. Dual-Engine Edge Vision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Hybrid Detector: Lightweight COCO-SSD MobileNet-v2 coupled with Floor Contrast BFS Segmentation.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Executes directly inside browser canvas at 60 FPS using WebGL acceleration.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Extracts bounding box coordinates: (x, y, width, height) and confidence score.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Zero external cloud dependency: 100% on-premises edge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73352"/>
            <a:ext cx="30175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2. 5.0s Stationary Filter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Multi-Frame Persistence Debounce requires the object to remain stationary for 5.0 seconds.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Transient movements (walking workers, swinging arms, rolling carts) pass through without triggering.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Centroid Jitter Tolerance: Displacements &lt;=45px due to lighting flicker or camera noise do not reset timer.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Visual Progress Indicator: Circular HUD countdown shows exact debouncing progress.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73352"/>
            <a:ext cx="30175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3. 2.5s Instant Removal Pruning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Tracks consecutive missing frames for every established object footprint.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Absence Threshold: Exactly 2,500ms (2.5s) of sustained non-detection confirms physical removal.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Immediately fires object_removed event.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Silences alarm siren, clears HUD overlay box, and marks item as REMOVED in audit log.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SPATIAL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Core Highlight: Dynamic &amp; User-Adjustable ROI Calibration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73352"/>
            <a:ext cx="30175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1. Interactive Live Calibration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Factory floors have perspective distortion and irregular physical floor tape.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Real-time drag-and-drop corner pins (P1, P2, P3, P4) positioned directly over live camera video.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Precision Nudge controls (▲ ▼ ◀ ▶) for millimeter-level alignment to physical tape.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Freehand boundary mode supporting arbitrary polygon vertices for non-rectangular zones.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73352"/>
            <a:ext cx="30175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855F7"/>
                </a:solidFill>
                <a:latin typeface="Arial"/>
              </a:defRPr>
            </a:pPr>
            <a:r>
              <a:t>2. Mathematical Validation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Ray-Casting Point-in-Polygon: Evaluates whether object bottom contact point (x_center, y_bottom) touches the floor inside polygon.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Shoelace Area Formula: Computes exact polygon square footage to prevent zero-area bugs.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Self-Intersection Protection: Rejects invalid twisted/crossed polygons.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Near-Full-Frame Guard: Rejects &gt;95% selections to prevent accidental whole-frame alarms.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73352"/>
            <a:ext cx="30175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3. Triple-Tier Persistence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Browser LocalStorage: Instant offline persistence on the client machine.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Node.js SQLite Database: Centralized system configuration for multi-client synchronization.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Java 25 LTS Engine: Synchronized into memory for high-speed parallel ray-casting.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High-Contrast HUD: Glowing red floor-tape outline with corner coordinate readout.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ACTUAL SYSTEM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Live Working Dashboard: Real-Time Operational Interface</a:t>
            </a:r>
          </a:p>
        </p:txBody>
      </p:sp>
      <p:pic>
        <p:nvPicPr>
          <p:cNvPr id="5" name="Picture 4" descr="dashboar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58368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508760"/>
            <a:ext cx="3959352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59" y="1673352"/>
            <a:ext cx="3593592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🖥️ Live SOC Highlights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Live 1080p CCTV Feed from Logitech C920 Webcam with 60 FPS canvas overlay.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Calibrated Red Floor Polygon: Precision corner pins mapped to physical desk/floor tape.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Active Object Bounding Box: Real-time detection with stationary dwell countdown.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RFID Reader Indicator: Active connection showing badge status and employee name.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Audit Event Stream: Instant logging of authorized, unauthorized, and removal events.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Consolidated Health Pill: Single indicator showing 6/6 subsystem green status.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SOC DASHBOARD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Dashboard Module Breakdown &amp; Operator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5912" cy="84124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Module A: CCTV Monitor &amp; Canvas Overlay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Renders live video stream, renders interactive floor polygon, displays object bounding boxes, and shows stationary timer rings.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725912" cy="84124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Module B: Device Operations Panel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Quick-switch dropdown for video inputs (Logitech C920, OBS, Virtual Cam) and RFID reader modes (USB HID, Serial COM, TCP). Includes baud selector (9600-115200).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29000"/>
            <a:ext cx="10725912" cy="84124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A855F7"/>
                </a:solidFill>
                <a:latin typeface="Arial"/>
              </a:defRPr>
            </a:pPr>
            <a:r>
              <a:t>Module C: Consolidated Health Telemetry Pill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Single high-density status pill showing 6/6 subsystems: Camera, RFID Reader, Node.js API, Java Engine, SQLite DB, and Web Audio Siren.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725912" cy="84124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Module D: Audit Event Log &amp; Evidence Inspector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Real-time event stream filterable by ALL, AUTHORIZED, UNAUTHORIZED, and RFID. Displays timestamp, employee ID, and cropped evidence thumbnail with CSV export.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49240"/>
            <a:ext cx="10725912" cy="84124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EF4444"/>
                </a:solidFill>
                <a:latin typeface="Arial"/>
              </a:defRPr>
            </a:pPr>
            <a:r>
              <a:t>Module E: Employee Badge Registry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Database manager for employee RFID tags: Add/revoke cards, assign names and departments, and configure authorized Red Tag drop permissions.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SYSTEM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Technology Stack: Modern Full-Stack Industrial 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51460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73352"/>
            <a:ext cx="214884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Frontend Tier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React 19 with Vite 6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Vanilla CSS Design Tokens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HTML5 Canvas 2D Overlay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Web Audio API Synthesizer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Lucide React Enterprise Icons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Socket.IO Client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HMR Build Time: 612ms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08760"/>
            <a:ext cx="251460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673352"/>
            <a:ext cx="214884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Backend API Tier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Node.js 20+ Runtime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Express REST API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Socket.IO Real-Time Server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SQLite Database (WAL Mode)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Multi-Modal RFID Parser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Evidence Storage Manager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Auto-Recovery Watcher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251460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73352"/>
            <a:ext cx="214884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855F7"/>
                </a:solidFill>
                <a:latin typeface="Arial"/>
              </a:defRPr>
            </a:pPr>
            <a:r>
              <a:t>High-Perf Core Tier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Java 25 LTS Runtime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ForkJoinPool Parallelism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Industrial TCP:9090 Server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Microsecond Ray-Casting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Cross-Platform Core JAR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Non-Blocking I/O (NIO)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Zero GC Pause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508760"/>
            <a:ext cx="251460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673352"/>
            <a:ext cx="214884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Hardware Tier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Logitech C920 HD Pro Webcam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USB HID Keyboard RFID Reader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Serial COM (CH340/FTDI)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125kHz EM4100 / TK4100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13.56MHz Mifare Classic NFC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Industrial Impinj Speedway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Standard Edge PC / NUC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PRIVACY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Privacy &amp; Security Design: Strict Zero Face Detection Standard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73352"/>
            <a:ext cx="475488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🔒 Privacy-by-Design Architecture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Zero Facial Recognition: The software stack contains absolutely zero facial detection, biometric extraction, or facial landmark models.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Ephemeral Frame Processing: Video frames exist solely in volatile GPU/CPU RAM for 16.6ms to detect bounding boxes, then are immediately purged.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Full Frames Discarded: Complete video frames are NEVER written to disk, sent to servers, or uploaded to any database.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Spatial Filtering: Moving workers and walking pedestrians are filtered out—only static physical objects resting on the floor trigger tracking.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Object-Only Evidence Crops: When an alert is generated, the system saves ONLY the cropped bounding box of the physical item with a tight 20px padding. Human faces and bodies are completely excluded.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73352"/>
            <a:ext cx="48463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🛡️ Legal &amp; Regulatory Compliance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GDPR Article 9 &amp; 88 Compliant: Exempt from strict biometric data prohibitions because no special category biometric data is ever processed.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Union &amp; Works Council Safe: Meets European Works Council (EWC) and US labor union agreements prohibiting automated worker surveillance.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Zero Liability Surveillance: Eliminates corporate liability associated with biometric data leaks, theft, or regulatory fines.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Lightweight Edge Footprint: By eliminating heavy facial recognition neural networks, the system operates at high FPS on affordable edge hardware.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Worker Trust &amp; Dignity: Workers are assured that their physical likeness is never captured, recorded, or judged by AI.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VERIFIED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Demonstration Scenarios &amp; Decision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51460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73352"/>
            <a:ext cx="214884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Scenario 1: Authorized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1. Worker taps authorized badge.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2. Sliding 60s window opens.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3. Places box inside Red Tag floor polygon.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4. Debounce completes 5.0s.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RESULT: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Green Beacon on HUD.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Authorized event logged with Employee Name.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Alarm siren remains SILENT.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08760"/>
            <a:ext cx="251460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673352"/>
            <a:ext cx="214884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4444"/>
                </a:solidFill>
                <a:latin typeface="Arial"/>
              </a:defRPr>
            </a:pPr>
            <a:r>
              <a:t>Scenario 2: Unauthorized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1. Worker taps unauthorized or contractor badge.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2. System identifies unpermitted UID.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3. Places item in zone.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4. Debounce completes 5.0s.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RESULT: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Red HUD alert border.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Dual-tone siren triggers.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Unauthorized event logged.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Cropped evidence thumbnail saved.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251460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73352"/>
            <a:ext cx="214884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Scenario 3: Blind Breach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1. Item is placed into Red Tag area with NO prior badge swipe.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2. Stationary filter confirms presence for 5.0s.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3. System checks for active authorization token (None found).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RESULT: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Instant Security Violation.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High-pitch acoustic siren.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Evidence captured &amp; logged.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508760"/>
            <a:ext cx="2514600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673352"/>
            <a:ext cx="214884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Scenario 4: Removal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1. Item is lifted and removed from the floor polygon.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2. System tracks consecutive missing frames.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3. Absence persists for 2.5s.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RESULT: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Siren auto-silenced.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HUD box cleared.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Inventory status updated from PRESENT to REMOVED in audit log.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Project Outcome &amp; Industrial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5912" cy="4846320"/>
          </a:xfrm>
          <a:prstGeom prst="roundRect">
            <a:avLst/>
          </a:prstGeom>
          <a:solidFill>
            <a:srgbClr val="131B2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🎯 Summary of Validated Achievements &amp; Industrial Impact</a:t>
            </a:r>
          </a:p>
          <a:p>
            <a:pPr>
              <a:spcAft>
                <a:spcPts val="400"/>
              </a:spcAft>
              <a:defRPr sz="1200" b="1">
                <a:solidFill>
                  <a:srgbClr val="38BDF8"/>
                </a:solidFill>
              </a:defRPr>
            </a:pPr>
            <a:r>
              <a:t>✔ 100% 5S Traceability &amp; Compliance: </a:t>
            </a:r>
            <a:r>
              <a:rPr b="0" sz="1150">
                <a:solidFill>
                  <a:srgbClr val="F8FAFC"/>
                </a:solidFill>
              </a:rPr>
              <a:t>Every single material drop in the designated Red Tag area is immutably timestamped, logged, and correlated with the authorized employee ID.</a:t>
            </a:r>
          </a:p>
          <a:p>
            <a:pPr>
              <a:spcAft>
                <a:spcPts val="400"/>
              </a:spcAft>
              <a:defRPr sz="1200" b="1">
                <a:solidFill>
                  <a:srgbClr val="38BDF8"/>
                </a:solidFill>
              </a:defRPr>
            </a:pPr>
            <a:r>
              <a:t>✔ Zero-Human Privacy Guarantee: </a:t>
            </a:r>
            <a:r>
              <a:rPr b="0" sz="1150">
                <a:solidFill>
                  <a:srgbClr val="F8FAFC"/>
                </a:solidFill>
              </a:rPr>
              <a:t>Completely eliminates employee resistance by guaranteeing zero facial recognition and zero full-frame storage, establishing an ethical workplace standard.</a:t>
            </a:r>
          </a:p>
          <a:p>
            <a:pPr>
              <a:spcAft>
                <a:spcPts val="400"/>
              </a:spcAft>
              <a:defRPr sz="1200" b="1">
                <a:solidFill>
                  <a:srgbClr val="38BDF8"/>
                </a:solidFill>
              </a:defRPr>
            </a:pPr>
            <a:r>
              <a:t>✔ Dynamic Operational Flexibility: </a:t>
            </a:r>
            <a:r>
              <a:rPr b="0" sz="1150">
                <a:solidFill>
                  <a:srgbClr val="F8FAFC"/>
                </a:solidFill>
              </a:rPr>
              <a:t>Millimeter-precision adjustable floor-tape polygon calibrates in seconds to any floor layout, tilted camera angle, or perspective distortion.</a:t>
            </a:r>
          </a:p>
          <a:p>
            <a:pPr>
              <a:spcAft>
                <a:spcPts val="400"/>
              </a:spcAft>
              <a:defRPr sz="1200" b="1">
                <a:solidFill>
                  <a:srgbClr val="38BDF8"/>
                </a:solidFill>
              </a:defRPr>
            </a:pPr>
            <a:r>
              <a:t>✔ 90% Reduction in Monitoring Labor: </a:t>
            </a:r>
            <a:r>
              <a:rPr b="0" sz="1150">
                <a:solidFill>
                  <a:srgbClr val="F8FAFC"/>
                </a:solidFill>
              </a:rPr>
              <a:t>Eliminates the need for dedicated security personnel or manual paper logs while delivering sub-100ms response times.</a:t>
            </a:r>
          </a:p>
          <a:p>
            <a:pPr>
              <a:spcAft>
                <a:spcPts val="400"/>
              </a:spcAft>
              <a:defRPr sz="1200" b="1">
                <a:solidFill>
                  <a:srgbClr val="38BDF8"/>
                </a:solidFill>
              </a:defRPr>
            </a:pPr>
            <a:r>
              <a:t>✔ Turnkey Production Readiness: </a:t>
            </a:r>
            <a:r>
              <a:rPr b="0" sz="1150">
                <a:solidFill>
                  <a:srgbClr val="F8FAFC"/>
                </a:solidFill>
              </a:rPr>
              <a:t>Fully operational with live hardware (Logitech C920, USB/Serial RFID) on http://localhost:5173 with automated one-click launcher scripts.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